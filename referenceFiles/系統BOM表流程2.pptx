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A0BF-0371-7338-EB8D-B63B509EA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7D953-4BA7-5F7A-D42D-5E36F5692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0A397-BA2F-6BA8-CD48-BE6B7BAC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1D85-747B-E964-C545-FE52EB3B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7DBC4-DCC5-64C3-84C0-FC9F909A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7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4BC0-9133-8A02-1539-9B702CBE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2B1AD-E578-2DA5-362E-C23581E2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A874-43CE-D356-2A1D-3E735DD5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1003-E85F-5501-DB58-20288377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AC3F-0940-2A06-5F64-A042F01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1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CC38-E8D6-4683-1480-AE061CBE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4A687-B2D9-AD6F-9A2F-AA92049CC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5E977-056B-5ABA-FDD7-1AD6B97E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9B29-55C8-F333-BFC8-9C3A08D1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88B81-06BE-7FE0-37E7-41FCC49D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C6C6-97FE-AACB-CF5E-8EB5520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70F7-E792-C04C-8EB8-4B7E067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40822-C3C6-27F7-0558-8B89B503F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54768-DE28-6DDB-3429-D13A6480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F736A-9339-A157-19F8-2939DB46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48E13-6FF6-7B24-120B-5EE9B519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D93E-CFBA-9A89-506F-09328C2F8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A3680-7607-7451-2409-34DC9CC8B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63C68-EC74-520B-6DCF-D9661C568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34E09-D3BC-2EFE-811F-4B7E683BB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714B3-C505-6929-5952-A1FAFD0C6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97205-C7B6-AAF3-5FFF-47C90B8A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68D61-0E60-1C5E-B350-1041652D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81328-7F69-D048-C232-5D4BEB24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5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6194-CE1D-0233-D628-2465DFD0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A6F38-E05B-BA02-0FA2-526A9147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1E701-BA62-9808-328A-18EE23F7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81BEB-B0D1-ED81-1521-8F8E8659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0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F7495-86B9-F331-971F-E8C5C4ED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237B6-658E-3AED-FA7B-F355E7AE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0B2F6-D3C1-EBF1-F103-2BD1250F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DC1E-B22D-ADE6-9D9D-90CF695C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ABF3-3FEF-8A23-A255-86ABA1FC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B27EE-CB3D-71ED-066A-166CEEFE7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F2F0F-7D99-C43D-7BF0-128EC5AE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9BD53-7070-2511-D247-86FB4502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194ED-B07E-4BE8-3B7D-94C438EE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4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D5B4-6109-156C-BD17-B49119A6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1DB0C3-EC5C-CD57-EED6-3B78C14EA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3FDC5-9741-CFC0-1442-B4805703F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90354-5823-0396-1A45-8110D6DD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6B9FD-04BC-F274-3F2F-23CB8851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9ECC0-7E1D-D861-8467-2BB93AF3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6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B9205-9E23-1985-08C6-7B0D69FD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D571A-8B42-3ED7-D9B0-FEAE901F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ECA9-23BB-93BB-1F0F-121EDB5C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021FF-1E5B-A9D3-9EA6-E4E31BEC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AEA9-19CB-DA63-0C96-52A55877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3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E3F19-1BFC-8074-1CE7-6AA8FEDCE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6BFAE-D5D4-BDD6-3FDF-E86D2D8A1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C6BB1-44E2-FB7E-8118-78A0DC01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FDC13-DB42-F7AA-1AF6-E8E8045D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BEC52-99EB-379D-B83B-582A9E5E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6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8A554-3F1D-7B75-F5AC-AB94452D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9E97E-E5BE-070B-96E0-F761163E7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FCF68-F8BA-ADA0-3E03-7BC1F1F17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67B56-E0AF-4B30-8AEB-5685669E69D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89B9D-9D96-9C68-6162-D652DF515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1B58-D4BF-9E8E-1573-C77357401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5F8BF-8D0F-4120-8FF7-AA9FA0D3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25D83-2C02-D454-6D3B-AD2A8F55CD8D}"/>
              </a:ext>
            </a:extLst>
          </p:cNvPr>
          <p:cNvSpPr txBox="1"/>
          <p:nvPr/>
        </p:nvSpPr>
        <p:spPr>
          <a:xfrm>
            <a:off x="1009291" y="629728"/>
            <a:ext cx="9282022" cy="2017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/>
              <a:t>材料管理</a:t>
            </a:r>
            <a:r>
              <a:rPr lang="zh-CN" altLang="en-US" dirty="0"/>
              <a:t>：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管理所有自家廠銷售及生產的單純物料明細以及各類加工明細；具體（含有：物料編號，品名，規格，顏色，供應商單價，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Leadtime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MOQ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（若有），供應商，備註）；</a:t>
            </a:r>
            <a:endParaRPr lang="en-US" altLang="zh-TW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材料明細表裡面針對每個產品有對應唯一物料編號，記錄該品項的所有的完整資訊；</a:t>
            </a:r>
            <a:endParaRPr lang="en-US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儲存後即可在建立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BOM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表及採購單中選用（</a:t>
            </a:r>
            <a:r>
              <a:rPr lang="zh-TW" sz="18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供應商單價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會在建立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BOM</a:t>
            </a:r>
            <a:r>
              <a:rPr lang="zh-TW" sz="18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zh-TW" sz="18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採購單</a:t>
            </a:r>
            <a:r>
              <a:rPr lang="zh-TW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時對應品名及物料編號自動帶入）</a:t>
            </a:r>
            <a:endParaRPr lang="en-US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3A5F2-1908-9722-D41C-0FF616F17ABC}"/>
              </a:ext>
            </a:extLst>
          </p:cNvPr>
          <p:cNvSpPr txBox="1"/>
          <p:nvPr/>
        </p:nvSpPr>
        <p:spPr>
          <a:xfrm>
            <a:off x="1009291" y="2518913"/>
            <a:ext cx="354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系統畫面設計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1EDFF9-ED66-76F6-5F9E-9D37E988D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778713"/>
              </p:ext>
            </p:extLst>
          </p:nvPr>
        </p:nvGraphicFramePr>
        <p:xfrm>
          <a:off x="1091720" y="3176115"/>
          <a:ext cx="29023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269">
                  <a:extLst>
                    <a:ext uri="{9D8B030D-6E8A-4147-A177-3AD203B41FA5}">
                      <a16:colId xmlns:a16="http://schemas.microsoft.com/office/drawing/2014/main" val="3990229131"/>
                    </a:ext>
                  </a:extLst>
                </a:gridCol>
                <a:gridCol w="1777041">
                  <a:extLst>
                    <a:ext uri="{9D8B030D-6E8A-4147-A177-3AD203B41FA5}">
                      <a16:colId xmlns:a16="http://schemas.microsoft.com/office/drawing/2014/main" val="3322427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物料編號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5106V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768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96FC7A-FC73-7EF0-FC8F-07A8F3B5C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253640"/>
              </p:ext>
            </p:extLst>
          </p:nvPr>
        </p:nvGraphicFramePr>
        <p:xfrm>
          <a:off x="7540931" y="3176115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30">
                  <a:extLst>
                    <a:ext uri="{9D8B030D-6E8A-4147-A177-3AD203B41FA5}">
                      <a16:colId xmlns:a16="http://schemas.microsoft.com/office/drawing/2014/main" val="3718653847"/>
                    </a:ext>
                  </a:extLst>
                </a:gridCol>
                <a:gridCol w="1944500">
                  <a:extLst>
                    <a:ext uri="{9D8B030D-6E8A-4147-A177-3AD203B41FA5}">
                      <a16:colId xmlns:a16="http://schemas.microsoft.com/office/drawing/2014/main" val="938063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產品分類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07258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2525D3-A0B4-EE83-AB41-341B04CF2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37814"/>
              </p:ext>
            </p:extLst>
          </p:nvPr>
        </p:nvGraphicFramePr>
        <p:xfrm>
          <a:off x="1091720" y="3784336"/>
          <a:ext cx="59905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452">
                  <a:extLst>
                    <a:ext uri="{9D8B030D-6E8A-4147-A177-3AD203B41FA5}">
                      <a16:colId xmlns:a16="http://schemas.microsoft.com/office/drawing/2014/main" val="2382876030"/>
                    </a:ext>
                  </a:extLst>
                </a:gridCol>
                <a:gridCol w="5212116">
                  <a:extLst>
                    <a:ext uri="{9D8B030D-6E8A-4147-A177-3AD203B41FA5}">
                      <a16:colId xmlns:a16="http://schemas.microsoft.com/office/drawing/2014/main" val="4108005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品名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130CMX215CM 14MM 42C WHITE EVA(EXPOSED)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147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4487F-EF06-AC01-81B4-E0DB15AB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42388"/>
              </p:ext>
            </p:extLst>
          </p:nvPr>
        </p:nvGraphicFramePr>
        <p:xfrm>
          <a:off x="1091720" y="4311761"/>
          <a:ext cx="31227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456">
                  <a:extLst>
                    <a:ext uri="{9D8B030D-6E8A-4147-A177-3AD203B41FA5}">
                      <a16:colId xmlns:a16="http://schemas.microsoft.com/office/drawing/2014/main" val="1618955555"/>
                    </a:ext>
                  </a:extLst>
                </a:gridCol>
                <a:gridCol w="2481306">
                  <a:extLst>
                    <a:ext uri="{9D8B030D-6E8A-4147-A177-3AD203B41FA5}">
                      <a16:colId xmlns:a16="http://schemas.microsoft.com/office/drawing/2014/main" val="1786748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規格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1300x2150x14mm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97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5F578A-A61B-0C5A-0F84-C5E980DCD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15831"/>
              </p:ext>
            </p:extLst>
          </p:nvPr>
        </p:nvGraphicFramePr>
        <p:xfrm>
          <a:off x="1052424" y="4827254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1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639018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單位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Sheet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F8EEB5-D07C-5751-7A72-D5282FDBF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97974"/>
              </p:ext>
            </p:extLst>
          </p:nvPr>
        </p:nvGraphicFramePr>
        <p:xfrm>
          <a:off x="6139136" y="4808123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1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639018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供應商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  <a:r>
                        <a:rPr lang="zh-CN" altLang="en-US" dirty="0"/>
                        <a:t>選擇供應商</a:t>
                      </a:r>
                      <a:r>
                        <a:rPr lang="en-US" altLang="zh-CN" dirty="0"/>
                        <a:t>--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08F1C7-F2DA-2533-7E3E-01FE4C89D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82536"/>
              </p:ext>
            </p:extLst>
          </p:nvPr>
        </p:nvGraphicFramePr>
        <p:xfrm>
          <a:off x="1052423" y="5388772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556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457863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供應商單價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C05A754-8801-E7D5-CC92-103878838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43034"/>
              </p:ext>
            </p:extLst>
          </p:nvPr>
        </p:nvGraphicFramePr>
        <p:xfrm>
          <a:off x="8253566" y="5375803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556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457863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幣別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C15EE53-23AA-3F08-88F8-D69E21D17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5576"/>
              </p:ext>
            </p:extLst>
          </p:nvPr>
        </p:nvGraphicFramePr>
        <p:xfrm>
          <a:off x="4461778" y="5397497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556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457863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銷售單價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928,200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36271C-DCA0-7C46-49E9-C74EA47D8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561843"/>
              </p:ext>
            </p:extLst>
          </p:nvPr>
        </p:nvGraphicFramePr>
        <p:xfrm>
          <a:off x="4461778" y="4304348"/>
          <a:ext cx="31227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456">
                  <a:extLst>
                    <a:ext uri="{9D8B030D-6E8A-4147-A177-3AD203B41FA5}">
                      <a16:colId xmlns:a16="http://schemas.microsoft.com/office/drawing/2014/main" val="1618955555"/>
                    </a:ext>
                  </a:extLst>
                </a:gridCol>
                <a:gridCol w="2481306">
                  <a:extLst>
                    <a:ext uri="{9D8B030D-6E8A-4147-A177-3AD203B41FA5}">
                      <a16:colId xmlns:a16="http://schemas.microsoft.com/office/drawing/2014/main" val="1786748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顏色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97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50C36F4-8AFA-BED4-4F0F-411BABB83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600830"/>
              </p:ext>
            </p:extLst>
          </p:nvPr>
        </p:nvGraphicFramePr>
        <p:xfrm>
          <a:off x="1050510" y="5973705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1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639018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9CEEF1F-0FF9-0BEC-84E8-1A880EB1D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29058"/>
              </p:ext>
            </p:extLst>
          </p:nvPr>
        </p:nvGraphicFramePr>
        <p:xfrm>
          <a:off x="6137222" y="5954574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1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639018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D36877C-D6CC-18C9-88A7-6ACCA4902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682380"/>
              </p:ext>
            </p:extLst>
          </p:nvPr>
        </p:nvGraphicFramePr>
        <p:xfrm>
          <a:off x="1050510" y="6446995"/>
          <a:ext cx="2807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1">
                  <a:extLst>
                    <a:ext uri="{9D8B030D-6E8A-4147-A177-3AD203B41FA5}">
                      <a16:colId xmlns:a16="http://schemas.microsoft.com/office/drawing/2014/main" val="2382657113"/>
                    </a:ext>
                  </a:extLst>
                </a:gridCol>
                <a:gridCol w="1639018">
                  <a:extLst>
                    <a:ext uri="{9D8B030D-6E8A-4147-A177-3AD203B41FA5}">
                      <a16:colId xmlns:a16="http://schemas.microsoft.com/office/drawing/2014/main" val="12029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照片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5857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46FD90B-DE69-CF74-0E9E-069950A94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09206"/>
              </p:ext>
            </p:extLst>
          </p:nvPr>
        </p:nvGraphicFramePr>
        <p:xfrm>
          <a:off x="4094915" y="3188858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30">
                  <a:extLst>
                    <a:ext uri="{9D8B030D-6E8A-4147-A177-3AD203B41FA5}">
                      <a16:colId xmlns:a16="http://schemas.microsoft.com/office/drawing/2014/main" val="3718653847"/>
                    </a:ext>
                  </a:extLst>
                </a:gridCol>
                <a:gridCol w="1944500">
                  <a:extLst>
                    <a:ext uri="{9D8B030D-6E8A-4147-A177-3AD203B41FA5}">
                      <a16:colId xmlns:a16="http://schemas.microsoft.com/office/drawing/2014/main" val="938063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材料名稱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 42</a:t>
                      </a:r>
                      <a:r>
                        <a:rPr lang="en-US" altLang="zh-CN" dirty="0"/>
                        <a:t>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07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48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25D83-2C02-D454-6D3B-AD2A8F55CD8D}"/>
              </a:ext>
            </a:extLst>
          </p:cNvPr>
          <p:cNvSpPr txBox="1"/>
          <p:nvPr/>
        </p:nvSpPr>
        <p:spPr>
          <a:xfrm>
            <a:off x="819510" y="87533"/>
            <a:ext cx="9282022" cy="2112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zh-CN" sz="1500" b="1" u="sng" dirty="0"/>
              <a:t>BOM</a:t>
            </a:r>
            <a:r>
              <a:rPr lang="zh-CN" altLang="en-US" sz="1500" b="1" u="sng" dirty="0"/>
              <a:t>表</a:t>
            </a:r>
            <a:r>
              <a:rPr lang="zh-CN" altLang="en-US" sz="1500" dirty="0"/>
              <a:t>：</a:t>
            </a: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BOM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系統為管理所有按照客戶訂單所需的最終銷售及生產的物料；每個</a:t>
            </a: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BOM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代表</a:t>
            </a: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個完整具體產品（含有：物料編號，品名，規格，顏色，附帶加工材料（若有），銷售價，</a:t>
            </a: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Leadtime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MOQ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（若有），供應商，備註）；</a:t>
            </a:r>
            <a:endParaRPr lang="en-US" sz="15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BOM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表裡面每一項物料從材料明細選擇，選定後資料會自動帶入（若需要可選擇手動調改資訊），若該品項需要加工貼合可選</a:t>
            </a:r>
            <a:r>
              <a:rPr lang="zh-TW" sz="15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增加品項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，再選用對應所需加工材料，選好所需加工材料及明細後，點進儲存；</a:t>
            </a:r>
            <a:endParaRPr lang="en-US" sz="15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儲存後即可在建立客戶訂單或報價單中選用（</a:t>
            </a:r>
            <a:r>
              <a:rPr lang="zh-TW" sz="15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公司售價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會在建立</a:t>
            </a:r>
            <a:r>
              <a:rPr lang="zh-TW" sz="1500" b="1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客戶訂單或報價單</a:t>
            </a:r>
            <a:r>
              <a:rPr lang="zh-TW" sz="15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對應品名自動帶入）</a:t>
            </a:r>
            <a:endParaRPr lang="en-US" sz="15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3A5F2-1908-9722-D41C-0FF616F17ABC}"/>
              </a:ext>
            </a:extLst>
          </p:cNvPr>
          <p:cNvSpPr txBox="1"/>
          <p:nvPr/>
        </p:nvSpPr>
        <p:spPr>
          <a:xfrm>
            <a:off x="819510" y="1910564"/>
            <a:ext cx="832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系統</a:t>
            </a:r>
            <a:r>
              <a:rPr lang="en-US" altLang="zh-CN" dirty="0"/>
              <a:t>BOM</a:t>
            </a:r>
            <a:r>
              <a:rPr lang="zh-CN" altLang="en-US" dirty="0"/>
              <a:t>畫面設計：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1EDFF9-ED66-76F6-5F9E-9D37E988D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38506"/>
              </p:ext>
            </p:extLst>
          </p:nvPr>
        </p:nvGraphicFramePr>
        <p:xfrm>
          <a:off x="901939" y="2322908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957">
                  <a:extLst>
                    <a:ext uri="{9D8B030D-6E8A-4147-A177-3AD203B41FA5}">
                      <a16:colId xmlns:a16="http://schemas.microsoft.com/office/drawing/2014/main" val="3990229131"/>
                    </a:ext>
                  </a:extLst>
                </a:gridCol>
                <a:gridCol w="2048173">
                  <a:extLst>
                    <a:ext uri="{9D8B030D-6E8A-4147-A177-3AD203B41FA5}">
                      <a16:colId xmlns:a16="http://schemas.microsoft.com/office/drawing/2014/main" val="3322427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物料編號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5106V </a:t>
                      </a:r>
                      <a:r>
                        <a:rPr lang="zh-CN" altLang="en-US" dirty="0"/>
                        <a:t>（手動輸入）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768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96FC7A-FC73-7EF0-FC8F-07A8F3B5C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591307"/>
              </p:ext>
            </p:extLst>
          </p:nvPr>
        </p:nvGraphicFramePr>
        <p:xfrm>
          <a:off x="5988651" y="2341755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30">
                  <a:extLst>
                    <a:ext uri="{9D8B030D-6E8A-4147-A177-3AD203B41FA5}">
                      <a16:colId xmlns:a16="http://schemas.microsoft.com/office/drawing/2014/main" val="3718653847"/>
                    </a:ext>
                  </a:extLst>
                </a:gridCol>
                <a:gridCol w="1944500">
                  <a:extLst>
                    <a:ext uri="{9D8B030D-6E8A-4147-A177-3AD203B41FA5}">
                      <a16:colId xmlns:a16="http://schemas.microsoft.com/office/drawing/2014/main" val="938063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產品分類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07258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7406B-8EF2-8D72-43F1-27A94D96F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365423"/>
              </p:ext>
            </p:extLst>
          </p:nvPr>
        </p:nvGraphicFramePr>
        <p:xfrm>
          <a:off x="901939" y="2931129"/>
          <a:ext cx="8431841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081">
                  <a:extLst>
                    <a:ext uri="{9D8B030D-6E8A-4147-A177-3AD203B41FA5}">
                      <a16:colId xmlns:a16="http://schemas.microsoft.com/office/drawing/2014/main" val="3031540061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1603018804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2825569677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1016596639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2373046610"/>
                    </a:ext>
                  </a:extLst>
                </a:gridCol>
                <a:gridCol w="798009">
                  <a:extLst>
                    <a:ext uri="{9D8B030D-6E8A-4147-A177-3AD203B41FA5}">
                      <a16:colId xmlns:a16="http://schemas.microsoft.com/office/drawing/2014/main" val="711856608"/>
                    </a:ext>
                  </a:extLst>
                </a:gridCol>
                <a:gridCol w="741949">
                  <a:extLst>
                    <a:ext uri="{9D8B030D-6E8A-4147-A177-3AD203B41FA5}">
                      <a16:colId xmlns:a16="http://schemas.microsoft.com/office/drawing/2014/main" val="2309916936"/>
                    </a:ext>
                  </a:extLst>
                </a:gridCol>
                <a:gridCol w="741949">
                  <a:extLst>
                    <a:ext uri="{9D8B030D-6E8A-4147-A177-3AD203B41FA5}">
                      <a16:colId xmlns:a16="http://schemas.microsoft.com/office/drawing/2014/main" val="3761344153"/>
                    </a:ext>
                  </a:extLst>
                </a:gridCol>
                <a:gridCol w="557286">
                  <a:extLst>
                    <a:ext uri="{9D8B030D-6E8A-4147-A177-3AD203B41FA5}">
                      <a16:colId xmlns:a16="http://schemas.microsoft.com/office/drawing/2014/main" val="3684075261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2153007505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2651402339"/>
                    </a:ext>
                  </a:extLst>
                </a:gridCol>
                <a:gridCol w="699081">
                  <a:extLst>
                    <a:ext uri="{9D8B030D-6E8A-4147-A177-3AD203B41FA5}">
                      <a16:colId xmlns:a16="http://schemas.microsoft.com/office/drawing/2014/main" val="3303524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品名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規格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顏色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單位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供應商單價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銷售價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幣別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備註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241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CDB5D9-DEAB-3491-4F36-A1EF37DD1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966228"/>
              </p:ext>
            </p:extLst>
          </p:nvPr>
        </p:nvGraphicFramePr>
        <p:xfrm>
          <a:off x="901932" y="3301969"/>
          <a:ext cx="8431847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876">
                  <a:extLst>
                    <a:ext uri="{9D8B030D-6E8A-4147-A177-3AD203B41FA5}">
                      <a16:colId xmlns:a16="http://schemas.microsoft.com/office/drawing/2014/main" val="271072934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143206535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3995257136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3584568332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3982236605"/>
                    </a:ext>
                  </a:extLst>
                </a:gridCol>
                <a:gridCol w="806088">
                  <a:extLst>
                    <a:ext uri="{9D8B030D-6E8A-4147-A177-3AD203B41FA5}">
                      <a16:colId xmlns:a16="http://schemas.microsoft.com/office/drawing/2014/main" val="3410573602"/>
                    </a:ext>
                  </a:extLst>
                </a:gridCol>
                <a:gridCol w="733211">
                  <a:extLst>
                    <a:ext uri="{9D8B030D-6E8A-4147-A177-3AD203B41FA5}">
                      <a16:colId xmlns:a16="http://schemas.microsoft.com/office/drawing/2014/main" val="185408512"/>
                    </a:ext>
                  </a:extLst>
                </a:gridCol>
                <a:gridCol w="733211">
                  <a:extLst>
                    <a:ext uri="{9D8B030D-6E8A-4147-A177-3AD203B41FA5}">
                      <a16:colId xmlns:a16="http://schemas.microsoft.com/office/drawing/2014/main" val="4261872854"/>
                    </a:ext>
                  </a:extLst>
                </a:gridCol>
                <a:gridCol w="560329">
                  <a:extLst>
                    <a:ext uri="{9D8B030D-6E8A-4147-A177-3AD203B41FA5}">
                      <a16:colId xmlns:a16="http://schemas.microsoft.com/office/drawing/2014/main" val="3420505957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103985561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3065773471"/>
                    </a:ext>
                  </a:extLst>
                </a:gridCol>
                <a:gridCol w="699876">
                  <a:extLst>
                    <a:ext uri="{9D8B030D-6E8A-4147-A177-3AD203B41FA5}">
                      <a16:colId xmlns:a16="http://schemas.microsoft.com/office/drawing/2014/main" val="2863175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Eva 42C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130CMX215CM 14MM 42C WHITE EVA(EXPOSED)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1300x2150x14mm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White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dirty="0"/>
                        <a:t>Sheet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Công</a:t>
                      </a:r>
                      <a:r>
                        <a:rPr lang="en-US" sz="1300" dirty="0"/>
                        <a:t> ty TNHH </a:t>
                      </a:r>
                      <a:r>
                        <a:rPr lang="en-US" sz="1300" dirty="0" err="1"/>
                        <a:t>Hâm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Tường</a:t>
                      </a:r>
                      <a:endParaRPr lang="en-US" sz="13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--</a:t>
                      </a:r>
                      <a:r>
                        <a:rPr lang="zh-CN" altLang="en-US" sz="1300" dirty="0"/>
                        <a:t>可選用</a:t>
                      </a:r>
                      <a:r>
                        <a:rPr lang="en-US" altLang="zh-CN" sz="1300" dirty="0"/>
                        <a:t>--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928,200</a:t>
                      </a:r>
                    </a:p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7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5D74BB-F5DF-40F4-9AB4-C988DF3E5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979357"/>
              </p:ext>
            </p:extLst>
          </p:nvPr>
        </p:nvGraphicFramePr>
        <p:xfrm>
          <a:off x="6443930" y="6469907"/>
          <a:ext cx="31055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70">
                  <a:extLst>
                    <a:ext uri="{9D8B030D-6E8A-4147-A177-3AD203B41FA5}">
                      <a16:colId xmlns:a16="http://schemas.microsoft.com/office/drawing/2014/main" val="2474528941"/>
                    </a:ext>
                  </a:extLst>
                </a:gridCol>
                <a:gridCol w="1035170">
                  <a:extLst>
                    <a:ext uri="{9D8B030D-6E8A-4147-A177-3AD203B41FA5}">
                      <a16:colId xmlns:a16="http://schemas.microsoft.com/office/drawing/2014/main" val="444540201"/>
                    </a:ext>
                  </a:extLst>
                </a:gridCol>
                <a:gridCol w="1035170">
                  <a:extLst>
                    <a:ext uri="{9D8B030D-6E8A-4147-A177-3AD203B41FA5}">
                      <a16:colId xmlns:a16="http://schemas.microsoft.com/office/drawing/2014/main" val="1859208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存檔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新增列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87734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EA5E75-05C2-F255-190A-F3150E060534}"/>
              </a:ext>
            </a:extLst>
          </p:cNvPr>
          <p:cNvCxnSpPr/>
          <p:nvPr/>
        </p:nvCxnSpPr>
        <p:spPr>
          <a:xfrm flipH="1">
            <a:off x="9381225" y="6469907"/>
            <a:ext cx="957532" cy="185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4C6007E-5BCB-E5E1-95AE-37C3B154D5B3}"/>
              </a:ext>
            </a:extLst>
          </p:cNvPr>
          <p:cNvSpPr txBox="1"/>
          <p:nvPr/>
        </p:nvSpPr>
        <p:spPr>
          <a:xfrm>
            <a:off x="10386204" y="5502396"/>
            <a:ext cx="1431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用於組合材料或另加工需求；如下頁描述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20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1EDFF9-ED66-76F6-5F9E-9D37E988D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806106"/>
              </p:ext>
            </p:extLst>
          </p:nvPr>
        </p:nvGraphicFramePr>
        <p:xfrm>
          <a:off x="841554" y="258888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957">
                  <a:extLst>
                    <a:ext uri="{9D8B030D-6E8A-4147-A177-3AD203B41FA5}">
                      <a16:colId xmlns:a16="http://schemas.microsoft.com/office/drawing/2014/main" val="3990229131"/>
                    </a:ext>
                  </a:extLst>
                </a:gridCol>
                <a:gridCol w="2048173">
                  <a:extLst>
                    <a:ext uri="{9D8B030D-6E8A-4147-A177-3AD203B41FA5}">
                      <a16:colId xmlns:a16="http://schemas.microsoft.com/office/drawing/2014/main" val="3322427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物料編號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5106F </a:t>
                      </a:r>
                      <a:r>
                        <a:rPr lang="zh-CN" altLang="en-US" dirty="0"/>
                        <a:t>（手動輸入）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768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96FC7A-FC73-7EF0-FC8F-07A8F3B5C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65755"/>
              </p:ext>
            </p:extLst>
          </p:nvPr>
        </p:nvGraphicFramePr>
        <p:xfrm>
          <a:off x="5928266" y="277735"/>
          <a:ext cx="33451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30">
                  <a:extLst>
                    <a:ext uri="{9D8B030D-6E8A-4147-A177-3AD203B41FA5}">
                      <a16:colId xmlns:a16="http://schemas.microsoft.com/office/drawing/2014/main" val="3718653847"/>
                    </a:ext>
                  </a:extLst>
                </a:gridCol>
                <a:gridCol w="1944500">
                  <a:extLst>
                    <a:ext uri="{9D8B030D-6E8A-4147-A177-3AD203B41FA5}">
                      <a16:colId xmlns:a16="http://schemas.microsoft.com/office/drawing/2014/main" val="938063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產品分類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07258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7406B-8EF2-8D72-43F1-27A94D96F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81105"/>
              </p:ext>
            </p:extLst>
          </p:nvPr>
        </p:nvGraphicFramePr>
        <p:xfrm>
          <a:off x="841554" y="867109"/>
          <a:ext cx="907882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470">
                  <a:extLst>
                    <a:ext uri="{9D8B030D-6E8A-4147-A177-3AD203B41FA5}">
                      <a16:colId xmlns:a16="http://schemas.microsoft.com/office/drawing/2014/main" val="3031540061"/>
                    </a:ext>
                  </a:extLst>
                </a:gridCol>
                <a:gridCol w="645761">
                  <a:extLst>
                    <a:ext uri="{9D8B030D-6E8A-4147-A177-3AD203B41FA5}">
                      <a16:colId xmlns:a16="http://schemas.microsoft.com/office/drawing/2014/main" val="1603018804"/>
                    </a:ext>
                  </a:extLst>
                </a:gridCol>
                <a:gridCol w="639836">
                  <a:extLst>
                    <a:ext uri="{9D8B030D-6E8A-4147-A177-3AD203B41FA5}">
                      <a16:colId xmlns:a16="http://schemas.microsoft.com/office/drawing/2014/main" val="2825569677"/>
                    </a:ext>
                  </a:extLst>
                </a:gridCol>
                <a:gridCol w="645761">
                  <a:extLst>
                    <a:ext uri="{9D8B030D-6E8A-4147-A177-3AD203B41FA5}">
                      <a16:colId xmlns:a16="http://schemas.microsoft.com/office/drawing/2014/main" val="1016596639"/>
                    </a:ext>
                  </a:extLst>
                </a:gridCol>
                <a:gridCol w="633911">
                  <a:extLst>
                    <a:ext uri="{9D8B030D-6E8A-4147-A177-3AD203B41FA5}">
                      <a16:colId xmlns:a16="http://schemas.microsoft.com/office/drawing/2014/main" val="2373046610"/>
                    </a:ext>
                  </a:extLst>
                </a:gridCol>
                <a:gridCol w="746476">
                  <a:extLst>
                    <a:ext uri="{9D8B030D-6E8A-4147-A177-3AD203B41FA5}">
                      <a16:colId xmlns:a16="http://schemas.microsoft.com/office/drawing/2014/main" val="711856608"/>
                    </a:ext>
                  </a:extLst>
                </a:gridCol>
                <a:gridCol w="663532">
                  <a:extLst>
                    <a:ext uri="{9D8B030D-6E8A-4147-A177-3AD203B41FA5}">
                      <a16:colId xmlns:a16="http://schemas.microsoft.com/office/drawing/2014/main" val="1016378050"/>
                    </a:ext>
                  </a:extLst>
                </a:gridCol>
                <a:gridCol w="663532">
                  <a:extLst>
                    <a:ext uri="{9D8B030D-6E8A-4147-A177-3AD203B41FA5}">
                      <a16:colId xmlns:a16="http://schemas.microsoft.com/office/drawing/2014/main" val="3761344153"/>
                    </a:ext>
                  </a:extLst>
                </a:gridCol>
                <a:gridCol w="527272">
                  <a:extLst>
                    <a:ext uri="{9D8B030D-6E8A-4147-A177-3AD203B41FA5}">
                      <a16:colId xmlns:a16="http://schemas.microsoft.com/office/drawing/2014/main" val="3684075261"/>
                    </a:ext>
                  </a:extLst>
                </a:gridCol>
                <a:gridCol w="1090090">
                  <a:extLst>
                    <a:ext uri="{9D8B030D-6E8A-4147-A177-3AD203B41FA5}">
                      <a16:colId xmlns:a16="http://schemas.microsoft.com/office/drawing/2014/main" val="2388095478"/>
                    </a:ext>
                  </a:extLst>
                </a:gridCol>
                <a:gridCol w="1090090">
                  <a:extLst>
                    <a:ext uri="{9D8B030D-6E8A-4147-A177-3AD203B41FA5}">
                      <a16:colId xmlns:a16="http://schemas.microsoft.com/office/drawing/2014/main" val="1081045717"/>
                    </a:ext>
                  </a:extLst>
                </a:gridCol>
                <a:gridCol w="1090090">
                  <a:extLst>
                    <a:ext uri="{9D8B030D-6E8A-4147-A177-3AD203B41FA5}">
                      <a16:colId xmlns:a16="http://schemas.microsoft.com/office/drawing/2014/main" val="3303524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材料名稱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品名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規格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顏色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單位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供應商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供應商單價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銷售價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幣別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備註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241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CDB5D9-DEAB-3491-4F36-A1EF37DD1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98598"/>
              </p:ext>
            </p:extLst>
          </p:nvPr>
        </p:nvGraphicFramePr>
        <p:xfrm>
          <a:off x="841547" y="1237949"/>
          <a:ext cx="907883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006">
                  <a:extLst>
                    <a:ext uri="{9D8B030D-6E8A-4147-A177-3AD203B41FA5}">
                      <a16:colId xmlns:a16="http://schemas.microsoft.com/office/drawing/2014/main" val="271072934"/>
                    </a:ext>
                  </a:extLst>
                </a:gridCol>
                <a:gridCol w="643006">
                  <a:extLst>
                    <a:ext uri="{9D8B030D-6E8A-4147-A177-3AD203B41FA5}">
                      <a16:colId xmlns:a16="http://schemas.microsoft.com/office/drawing/2014/main" val="143206535"/>
                    </a:ext>
                  </a:extLst>
                </a:gridCol>
                <a:gridCol w="643006">
                  <a:extLst>
                    <a:ext uri="{9D8B030D-6E8A-4147-A177-3AD203B41FA5}">
                      <a16:colId xmlns:a16="http://schemas.microsoft.com/office/drawing/2014/main" val="3995257136"/>
                    </a:ext>
                  </a:extLst>
                </a:gridCol>
                <a:gridCol w="643006">
                  <a:extLst>
                    <a:ext uri="{9D8B030D-6E8A-4147-A177-3AD203B41FA5}">
                      <a16:colId xmlns:a16="http://schemas.microsoft.com/office/drawing/2014/main" val="3584568332"/>
                    </a:ext>
                  </a:extLst>
                </a:gridCol>
                <a:gridCol w="643006">
                  <a:extLst>
                    <a:ext uri="{9D8B030D-6E8A-4147-A177-3AD203B41FA5}">
                      <a16:colId xmlns:a16="http://schemas.microsoft.com/office/drawing/2014/main" val="3982236605"/>
                    </a:ext>
                  </a:extLst>
                </a:gridCol>
                <a:gridCol w="740587">
                  <a:extLst>
                    <a:ext uri="{9D8B030D-6E8A-4147-A177-3AD203B41FA5}">
                      <a16:colId xmlns:a16="http://schemas.microsoft.com/office/drawing/2014/main" val="3410573602"/>
                    </a:ext>
                  </a:extLst>
                </a:gridCol>
                <a:gridCol w="673631">
                  <a:extLst>
                    <a:ext uri="{9D8B030D-6E8A-4147-A177-3AD203B41FA5}">
                      <a16:colId xmlns:a16="http://schemas.microsoft.com/office/drawing/2014/main" val="48077916"/>
                    </a:ext>
                  </a:extLst>
                </a:gridCol>
                <a:gridCol w="673631">
                  <a:extLst>
                    <a:ext uri="{9D8B030D-6E8A-4147-A177-3AD203B41FA5}">
                      <a16:colId xmlns:a16="http://schemas.microsoft.com/office/drawing/2014/main" val="4261872854"/>
                    </a:ext>
                  </a:extLst>
                </a:gridCol>
                <a:gridCol w="514797">
                  <a:extLst>
                    <a:ext uri="{9D8B030D-6E8A-4147-A177-3AD203B41FA5}">
                      <a16:colId xmlns:a16="http://schemas.microsoft.com/office/drawing/2014/main" val="3420505957"/>
                    </a:ext>
                  </a:extLst>
                </a:gridCol>
                <a:gridCol w="1087052">
                  <a:extLst>
                    <a:ext uri="{9D8B030D-6E8A-4147-A177-3AD203B41FA5}">
                      <a16:colId xmlns:a16="http://schemas.microsoft.com/office/drawing/2014/main" val="1193352321"/>
                    </a:ext>
                  </a:extLst>
                </a:gridCol>
                <a:gridCol w="1087052">
                  <a:extLst>
                    <a:ext uri="{9D8B030D-6E8A-4147-A177-3AD203B41FA5}">
                      <a16:colId xmlns:a16="http://schemas.microsoft.com/office/drawing/2014/main" val="1966431507"/>
                    </a:ext>
                  </a:extLst>
                </a:gridCol>
                <a:gridCol w="1087052">
                  <a:extLst>
                    <a:ext uri="{9D8B030D-6E8A-4147-A177-3AD203B41FA5}">
                      <a16:colId xmlns:a16="http://schemas.microsoft.com/office/drawing/2014/main" val="2863175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Eva 42C-T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130CMX215CM 14MM 42C WHITE EVA(EXPOSED)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1300x2150x14mm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White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Sheet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Công</a:t>
                      </a:r>
                      <a:r>
                        <a:rPr lang="en-US" sz="1000" dirty="0"/>
                        <a:t> ty TNHH </a:t>
                      </a:r>
                      <a:r>
                        <a:rPr lang="en-US" sz="1000" dirty="0" err="1"/>
                        <a:t>Thiên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Thạc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928,200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--</a:t>
                      </a:r>
                      <a:r>
                        <a:rPr lang="zh-CN" altLang="en-US" sz="1000" dirty="0"/>
                        <a:t>可選用</a:t>
                      </a:r>
                      <a:r>
                        <a:rPr lang="en-US" altLang="zh-CN" sz="1000" dirty="0"/>
                        <a:t>--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PU-801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Solid 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Công</a:t>
                      </a:r>
                      <a:r>
                        <a:rPr lang="en-US" sz="1000" dirty="0"/>
                        <a:t> ty TNHH </a:t>
                      </a:r>
                      <a:r>
                        <a:rPr lang="en-US" sz="1000" dirty="0" err="1"/>
                        <a:t>Hâm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Tường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Eva 42C-T-a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Adhesive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1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Trắng</a:t>
                      </a:r>
                      <a:r>
                        <a:rPr lang="en-US" sz="1000" dirty="0"/>
                        <a:t> 5mm EVA 32c 110*270cm 510A9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1300x2150x5mm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Sheet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Công</a:t>
                      </a:r>
                      <a:r>
                        <a:rPr lang="en-US" sz="1000" dirty="0"/>
                        <a:t> ty TNHH </a:t>
                      </a:r>
                      <a:r>
                        <a:rPr lang="en-US" sz="1000" dirty="0" err="1"/>
                        <a:t>Thiên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Thạc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Eva 42C-T-b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0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Lamination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Công</a:t>
                      </a:r>
                      <a:r>
                        <a:rPr lang="en-US" sz="1000" dirty="0"/>
                        <a:t> ty TNHH </a:t>
                      </a:r>
                      <a:r>
                        <a:rPr lang="en-US" sz="1000" dirty="0" err="1"/>
                        <a:t>Hâm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Tường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Eva 42C-T-c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Lamination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6216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5D74BB-F5DF-40F4-9AB4-C988DF3E5B4F}"/>
              </a:ext>
            </a:extLst>
          </p:cNvPr>
          <p:cNvGraphicFramePr>
            <a:graphicFrameLocks noGrp="1"/>
          </p:cNvGraphicFramePr>
          <p:nvPr/>
        </p:nvGraphicFramePr>
        <p:xfrm>
          <a:off x="6418050" y="6228272"/>
          <a:ext cx="31055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70">
                  <a:extLst>
                    <a:ext uri="{9D8B030D-6E8A-4147-A177-3AD203B41FA5}">
                      <a16:colId xmlns:a16="http://schemas.microsoft.com/office/drawing/2014/main" val="2474528941"/>
                    </a:ext>
                  </a:extLst>
                </a:gridCol>
                <a:gridCol w="1035170">
                  <a:extLst>
                    <a:ext uri="{9D8B030D-6E8A-4147-A177-3AD203B41FA5}">
                      <a16:colId xmlns:a16="http://schemas.microsoft.com/office/drawing/2014/main" val="444540201"/>
                    </a:ext>
                  </a:extLst>
                </a:gridCol>
                <a:gridCol w="1035170">
                  <a:extLst>
                    <a:ext uri="{9D8B030D-6E8A-4147-A177-3AD203B41FA5}">
                      <a16:colId xmlns:a16="http://schemas.microsoft.com/office/drawing/2014/main" val="1859208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儲存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新增列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8773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FC57CF-3163-6363-C207-288E439DA64A}"/>
              </a:ext>
            </a:extLst>
          </p:cNvPr>
          <p:cNvCxnSpPr/>
          <p:nvPr/>
        </p:nvCxnSpPr>
        <p:spPr>
          <a:xfrm flipV="1">
            <a:off x="5201729" y="6413692"/>
            <a:ext cx="1276709" cy="155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9D30DA8-2AE7-BE93-EC0E-EA93F1040BD8}"/>
              </a:ext>
            </a:extLst>
          </p:cNvPr>
          <p:cNvSpPr txBox="1"/>
          <p:nvPr/>
        </p:nvSpPr>
        <p:spPr>
          <a:xfrm>
            <a:off x="3273722" y="6168163"/>
            <a:ext cx="200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建檔完畢按儲存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07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E7330-920F-E8A7-84CE-9ED0CE1B6D29}"/>
              </a:ext>
            </a:extLst>
          </p:cNvPr>
          <p:cNvSpPr txBox="1"/>
          <p:nvPr/>
        </p:nvSpPr>
        <p:spPr>
          <a:xfrm>
            <a:off x="828136" y="310551"/>
            <a:ext cx="8281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BOM</a:t>
            </a:r>
            <a:r>
              <a:rPr lang="zh-CN" altLang="en-US" sz="1500" dirty="0"/>
              <a:t>系統建檔成功後，採購部可直接建</a:t>
            </a:r>
            <a:r>
              <a:rPr lang="zh-CN" altLang="en-US" sz="1500" b="1" dirty="0"/>
              <a:t>客戶訂單</a:t>
            </a:r>
            <a:r>
              <a:rPr lang="zh-CN" altLang="en-US" sz="1500" dirty="0"/>
              <a:t>中選用，明細資訊會在選用後自</a:t>
            </a:r>
            <a:r>
              <a:rPr lang="en-US" altLang="zh-CN" sz="1500" dirty="0"/>
              <a:t>BOM</a:t>
            </a:r>
            <a:r>
              <a:rPr lang="zh-CN" altLang="en-US" sz="1500" dirty="0"/>
              <a:t>所建好的資訊自動帶入，採購負責人只需輸入供應商名稱，數量及日期；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以下舉例</a:t>
            </a:r>
            <a:r>
              <a:rPr lang="en-US" altLang="zh-CN" sz="1500" dirty="0"/>
              <a:t>:</a:t>
            </a:r>
            <a:endParaRPr lang="en-US" sz="15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5B4323-B4E0-8115-1510-D558D196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0682"/>
              </p:ext>
            </p:extLst>
          </p:nvPr>
        </p:nvGraphicFramePr>
        <p:xfrm>
          <a:off x="828136" y="1737583"/>
          <a:ext cx="15009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96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採購日期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A6D536-933B-0745-3F73-CD35FC2B8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12741"/>
              </p:ext>
            </p:extLst>
          </p:nvPr>
        </p:nvGraphicFramePr>
        <p:xfrm>
          <a:off x="828136" y="2108423"/>
          <a:ext cx="15009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96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Dd/mm/</a:t>
                      </a:r>
                      <a:r>
                        <a:rPr lang="en-US" altLang="zh-CN" dirty="0" err="1"/>
                        <a:t>yy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ECD57-2510-E9F1-D56E-24967C0C6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665021"/>
              </p:ext>
            </p:extLst>
          </p:nvPr>
        </p:nvGraphicFramePr>
        <p:xfrm>
          <a:off x="3062378" y="1737583"/>
          <a:ext cx="15009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96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客戶單號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5512A4-0620-C46D-C6DC-82130FBBA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234516"/>
              </p:ext>
            </p:extLst>
          </p:nvPr>
        </p:nvGraphicFramePr>
        <p:xfrm>
          <a:off x="3062378" y="2108423"/>
          <a:ext cx="18460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052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123456 </a:t>
                      </a:r>
                      <a:r>
                        <a:rPr lang="zh-CN" altLang="en-US" sz="1300" dirty="0"/>
                        <a:t>（手動輸入）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4F3393-D6C1-18D4-0B0E-11D5554BF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273235"/>
              </p:ext>
            </p:extLst>
          </p:nvPr>
        </p:nvGraphicFramePr>
        <p:xfrm>
          <a:off x="5589916" y="1737583"/>
          <a:ext cx="35195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578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客戶名稱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2A53A4-3382-9108-AFFB-3F2D4A2ED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1166"/>
              </p:ext>
            </p:extLst>
          </p:nvPr>
        </p:nvGraphicFramePr>
        <p:xfrm>
          <a:off x="5589916" y="2108423"/>
          <a:ext cx="35195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578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Công</a:t>
                      </a:r>
                      <a:r>
                        <a:rPr lang="en-US" dirty="0"/>
                        <a:t> ty TNHH </a:t>
                      </a:r>
                      <a:r>
                        <a:rPr lang="en-US" dirty="0" err="1"/>
                        <a:t>Đông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Phưng</a:t>
                      </a:r>
                      <a:r>
                        <a:rPr lang="en-US" dirty="0"/>
                        <a:t> TO2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76D568-6907-31A1-6B20-90BAAB1E2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028457"/>
              </p:ext>
            </p:extLst>
          </p:nvPr>
        </p:nvGraphicFramePr>
        <p:xfrm>
          <a:off x="828136" y="2971160"/>
          <a:ext cx="9678843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346">
                  <a:extLst>
                    <a:ext uri="{9D8B030D-6E8A-4147-A177-3AD203B41FA5}">
                      <a16:colId xmlns:a16="http://schemas.microsoft.com/office/drawing/2014/main" val="585364923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3114058554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2783630920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2376935193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3461519837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230465679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4157667334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72320660"/>
                    </a:ext>
                  </a:extLst>
                </a:gridCol>
                <a:gridCol w="735710">
                  <a:extLst>
                    <a:ext uri="{9D8B030D-6E8A-4147-A177-3AD203B41FA5}">
                      <a16:colId xmlns:a16="http://schemas.microsoft.com/office/drawing/2014/main" val="84571734"/>
                    </a:ext>
                  </a:extLst>
                </a:gridCol>
                <a:gridCol w="646981">
                  <a:extLst>
                    <a:ext uri="{9D8B030D-6E8A-4147-A177-3AD203B41FA5}">
                      <a16:colId xmlns:a16="http://schemas.microsoft.com/office/drawing/2014/main" val="1295511608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2271070809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1433129408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2002012021"/>
                    </a:ext>
                  </a:extLst>
                </a:gridCol>
                <a:gridCol w="691346">
                  <a:extLst>
                    <a:ext uri="{9D8B030D-6E8A-4147-A177-3AD203B41FA5}">
                      <a16:colId xmlns:a16="http://schemas.microsoft.com/office/drawing/2014/main" val="818776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物料編號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品名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規格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顏色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單位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數量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銷售單價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幣別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備註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出貨日期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73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5106</a:t>
                      </a:r>
                      <a:r>
                        <a:rPr lang="en-US" altLang="zh-CN" sz="1100" dirty="0"/>
                        <a:t>F</a:t>
                      </a:r>
                    </a:p>
                    <a:p>
                      <a:r>
                        <a:rPr lang="en-US" sz="1100" dirty="0"/>
                        <a:t>--</a:t>
                      </a:r>
                      <a:r>
                        <a:rPr lang="zh-CN" altLang="en-US" sz="1100" dirty="0"/>
                        <a:t>可選用</a:t>
                      </a:r>
                      <a:r>
                        <a:rPr lang="en-US" altLang="zh-CN" sz="1100" dirty="0"/>
                        <a:t>--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130CMX215CM 14MM 42C WHITE EVA(EXPOSED)/</a:t>
                      </a:r>
                      <a:r>
                        <a:rPr lang="en-US" sz="1100" dirty="0" err="1"/>
                        <a:t>Trắng</a:t>
                      </a:r>
                      <a:r>
                        <a:rPr lang="en-US" sz="1100" dirty="0"/>
                        <a:t> 5mm EVA 32c 110*270cm 510A9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1300x2150x14mm/1300x2150x5mm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White/white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手動輸入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手動輸入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1,230,700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手動輸入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8458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B51841-1811-479F-68D3-A3C76DB38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27746"/>
              </p:ext>
            </p:extLst>
          </p:nvPr>
        </p:nvGraphicFramePr>
        <p:xfrm>
          <a:off x="815675" y="2600320"/>
          <a:ext cx="2436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483">
                  <a:extLst>
                    <a:ext uri="{9D8B030D-6E8A-4147-A177-3AD203B41FA5}">
                      <a16:colId xmlns:a16="http://schemas.microsoft.com/office/drawing/2014/main" val="390516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訂單明細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2402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4FB31-F88F-D1C6-B043-D958668E4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144775"/>
              </p:ext>
            </p:extLst>
          </p:nvPr>
        </p:nvGraphicFramePr>
        <p:xfrm>
          <a:off x="828136" y="1306215"/>
          <a:ext cx="11386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687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客戶訂單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37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E7330-920F-E8A7-84CE-9ED0CE1B6D29}"/>
              </a:ext>
            </a:extLst>
          </p:cNvPr>
          <p:cNvSpPr txBox="1"/>
          <p:nvPr/>
        </p:nvSpPr>
        <p:spPr>
          <a:xfrm>
            <a:off x="810886" y="18404"/>
            <a:ext cx="988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採購訂單也從</a:t>
            </a:r>
            <a:r>
              <a:rPr lang="en-US" sz="1500" dirty="0"/>
              <a:t>BOM</a:t>
            </a:r>
            <a:r>
              <a:rPr lang="zh-CN" altLang="en-US" sz="1500" dirty="0"/>
              <a:t>系統建檔成功後，採購人員可直接建採購單中選用，明細資訊會在選用後自</a:t>
            </a:r>
            <a:r>
              <a:rPr lang="en-US" altLang="zh-CN" sz="1500" dirty="0"/>
              <a:t>BOM</a:t>
            </a:r>
            <a:r>
              <a:rPr lang="zh-CN" altLang="en-US" sz="1500" dirty="0"/>
              <a:t>所建好的各項資訊明細及細節自動帶入顯示，採購負責人只需輸入數量及日期；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以下舉例，需要以</a:t>
            </a:r>
            <a:r>
              <a:rPr lang="en-US" altLang="zh-CN" sz="1500" dirty="0"/>
              <a:t>5106F</a:t>
            </a:r>
            <a:r>
              <a:rPr lang="zh-CN" altLang="en-US" sz="1500" dirty="0"/>
              <a:t>物料進行開採購單，由於材料分不同供應商下單調料，所以以采購單號備註</a:t>
            </a:r>
            <a:r>
              <a:rPr lang="en-US" altLang="zh-CN" sz="1500" dirty="0"/>
              <a:t>-1;-2</a:t>
            </a:r>
            <a:r>
              <a:rPr lang="zh-CN" altLang="en-US" sz="1500" dirty="0"/>
              <a:t>分別下單</a:t>
            </a:r>
            <a:r>
              <a:rPr lang="en-US" altLang="zh-CN" sz="1500" dirty="0"/>
              <a:t>:</a:t>
            </a:r>
            <a:endParaRPr lang="en-US" sz="15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5B4323-B4E0-8115-1510-D558D196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28821"/>
              </p:ext>
            </p:extLst>
          </p:nvPr>
        </p:nvGraphicFramePr>
        <p:xfrm>
          <a:off x="891059" y="1465435"/>
          <a:ext cx="1409445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採購日期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A6D536-933B-0745-3F73-CD35FC2B8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32836"/>
              </p:ext>
            </p:extLst>
          </p:nvPr>
        </p:nvGraphicFramePr>
        <p:xfrm>
          <a:off x="891059" y="1836275"/>
          <a:ext cx="1409445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Dd/mm/</a:t>
                      </a:r>
                      <a:r>
                        <a:rPr lang="en-US" altLang="zh-CN" sz="1500" dirty="0" err="1"/>
                        <a:t>yy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ECD57-2510-E9F1-D56E-24967C0C6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24867"/>
              </p:ext>
            </p:extLst>
          </p:nvPr>
        </p:nvGraphicFramePr>
        <p:xfrm>
          <a:off x="3125301" y="1465435"/>
          <a:ext cx="14094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zh-CN" altLang="en-US" dirty="0"/>
                        <a:t>採購單號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5512A4-0620-C46D-C6DC-82130FBBA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6226"/>
              </p:ext>
            </p:extLst>
          </p:nvPr>
        </p:nvGraphicFramePr>
        <p:xfrm>
          <a:off x="3120904" y="1836276"/>
          <a:ext cx="183065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658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68570">
                <a:tc>
                  <a:txBody>
                    <a:bodyPr/>
                    <a:lstStyle/>
                    <a:p>
                      <a:r>
                        <a:rPr lang="en-US" sz="1400" dirty="0"/>
                        <a:t>123456-1 </a:t>
                      </a:r>
                      <a:r>
                        <a:rPr lang="en-US" altLang="zh-CN" sz="1400" dirty="0"/>
                        <a:t>【</a:t>
                      </a:r>
                      <a:r>
                        <a:rPr lang="zh-CN" altLang="en-US" sz="1400" dirty="0"/>
                        <a:t>手動輸入</a:t>
                      </a:r>
                      <a:r>
                        <a:rPr lang="en-US" altLang="zh-CN" sz="1400" dirty="0"/>
                        <a:t>】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76D568-6907-31A1-6B20-90BAAB1E2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97514"/>
              </p:ext>
            </p:extLst>
          </p:nvPr>
        </p:nvGraphicFramePr>
        <p:xfrm>
          <a:off x="810886" y="2639712"/>
          <a:ext cx="977373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82">
                  <a:extLst>
                    <a:ext uri="{9D8B030D-6E8A-4147-A177-3AD203B41FA5}">
                      <a16:colId xmlns:a16="http://schemas.microsoft.com/office/drawing/2014/main" val="585364923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114058554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783630920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376935193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461519837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339503815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4157667334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72320660"/>
                    </a:ext>
                  </a:extLst>
                </a:gridCol>
                <a:gridCol w="693395">
                  <a:extLst>
                    <a:ext uri="{9D8B030D-6E8A-4147-A177-3AD203B41FA5}">
                      <a16:colId xmlns:a16="http://schemas.microsoft.com/office/drawing/2014/main" val="84571734"/>
                    </a:ext>
                  </a:extLst>
                </a:gridCol>
                <a:gridCol w="609769">
                  <a:extLst>
                    <a:ext uri="{9D8B030D-6E8A-4147-A177-3AD203B41FA5}">
                      <a16:colId xmlns:a16="http://schemas.microsoft.com/office/drawing/2014/main" val="129551160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271070809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143312940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002012021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81877623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1955553290"/>
                    </a:ext>
                  </a:extLst>
                </a:gridCol>
              </a:tblGrid>
              <a:tr h="409669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物料編號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品名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規格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顏色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單位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數量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供應商單價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幣別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備註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材料需求日期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全選</a:t>
                      </a:r>
                      <a:r>
                        <a:rPr lang="zh-CN" altLang="en-US" sz="1100" dirty="0">
                          <a:sym typeface="Wingdings 2" panose="05020102010507070707" pitchFamily="18" charset="2"/>
                        </a:rPr>
                        <a:t>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736831"/>
                  </a:ext>
                </a:extLst>
              </a:tr>
              <a:tr h="1214376">
                <a:tc>
                  <a:txBody>
                    <a:bodyPr/>
                    <a:lstStyle/>
                    <a:p>
                      <a:r>
                        <a:rPr lang="en-US" sz="1100" dirty="0"/>
                        <a:t>5106</a:t>
                      </a:r>
                      <a:r>
                        <a:rPr lang="en-US" altLang="zh-CN" sz="1100" dirty="0"/>
                        <a:t>F</a:t>
                      </a:r>
                    </a:p>
                    <a:p>
                      <a:r>
                        <a:rPr lang="en-US" sz="1100" dirty="0"/>
                        <a:t>--</a:t>
                      </a:r>
                      <a:r>
                        <a:rPr lang="zh-CN" altLang="en-US" sz="1100" dirty="0"/>
                        <a:t>可選用</a:t>
                      </a:r>
                      <a:r>
                        <a:rPr lang="en-US" altLang="zh-CN" sz="1100" dirty="0"/>
                        <a:t>--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130CMX215CM 14MM 42C WHITE EVA(EXPOSED)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1300x2150x14mm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Thiên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Thạc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ym typeface="Wingdings 2" panose="05020102010507070707" pitchFamily="18" charset="2"/>
                        </a:rPr>
                        <a:t>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84586"/>
                  </a:ext>
                </a:extLst>
              </a:tr>
              <a:tr h="731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PU-801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Solid 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Hâm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Tường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Adhesive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ym typeface="Wingdings 2" panose="05020102010507070707" pitchFamily="18" charset="2"/>
                        </a:rPr>
                        <a:t>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72702"/>
                  </a:ext>
                </a:extLst>
              </a:tr>
              <a:tr h="105343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Trắng</a:t>
                      </a:r>
                      <a:r>
                        <a:rPr lang="en-US" sz="1100" dirty="0"/>
                        <a:t> 5mm EVA 32c 110*270cm 510A9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1300x2150x5mm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Thiên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Thạc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Sheet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42C-T-b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ym typeface="Wingdings 2" panose="05020102010507070707" pitchFamily="18" charset="2"/>
                        </a:rPr>
                        <a:t>      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564640"/>
                  </a:ext>
                </a:extLst>
              </a:tr>
              <a:tr h="731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Lamination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Hâm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Tường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Lamination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ym typeface="Wingdings 2" panose="05020102010507070707" pitchFamily="18" charset="2"/>
                        </a:rPr>
                        <a:t>       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81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B51841-1811-479F-68D3-A3C76DB38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71580"/>
              </p:ext>
            </p:extLst>
          </p:nvPr>
        </p:nvGraphicFramePr>
        <p:xfrm>
          <a:off x="881888" y="2267643"/>
          <a:ext cx="2460369" cy="329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369">
                  <a:extLst>
                    <a:ext uri="{9D8B030D-6E8A-4147-A177-3AD203B41FA5}">
                      <a16:colId xmlns:a16="http://schemas.microsoft.com/office/drawing/2014/main" val="3905166304"/>
                    </a:ext>
                  </a:extLst>
                </a:gridCol>
              </a:tblGrid>
              <a:tr h="329419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訂單明細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2402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FE86E4-A89B-35E0-902C-13E3BCC16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205974"/>
              </p:ext>
            </p:extLst>
          </p:nvPr>
        </p:nvGraphicFramePr>
        <p:xfrm>
          <a:off x="896302" y="1034067"/>
          <a:ext cx="975630" cy="329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630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29418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採購單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F039F4-54E2-C3AA-DEFC-D906EE09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90068"/>
              </p:ext>
            </p:extLst>
          </p:nvPr>
        </p:nvGraphicFramePr>
        <p:xfrm>
          <a:off x="6096000" y="2204974"/>
          <a:ext cx="44680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009">
                  <a:extLst>
                    <a:ext uri="{9D8B030D-6E8A-4147-A177-3AD203B41FA5}">
                      <a16:colId xmlns:a16="http://schemas.microsoft.com/office/drawing/2014/main" val="2335432317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2422534152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1479114656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473941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導出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列印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確認送審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刪除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34919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C087D0-2264-09FA-0B91-B3E246F16216}"/>
              </a:ext>
            </a:extLst>
          </p:cNvPr>
          <p:cNvCxnSpPr/>
          <p:nvPr/>
        </p:nvCxnSpPr>
        <p:spPr>
          <a:xfrm flipH="1">
            <a:off x="6858001" y="1738485"/>
            <a:ext cx="207034" cy="579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607536-6D81-3B84-2457-2FA4BCC029E5}"/>
              </a:ext>
            </a:extLst>
          </p:cNvPr>
          <p:cNvSpPr txBox="1"/>
          <p:nvPr/>
        </p:nvSpPr>
        <p:spPr>
          <a:xfrm>
            <a:off x="6460733" y="1347828"/>
            <a:ext cx="176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</a:t>
            </a:r>
            <a:r>
              <a:rPr lang="zh-CN" altLang="en-US" dirty="0"/>
              <a:t>或</a:t>
            </a:r>
            <a:r>
              <a:rPr lang="en-US" altLang="zh-CN" dirty="0"/>
              <a:t>PDF</a:t>
            </a:r>
            <a:r>
              <a:rPr lang="zh-CN" altLang="en-US" dirty="0"/>
              <a:t>檔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B9A3CD-D9AB-CE5A-B0D8-809CC6D9DD1E}"/>
              </a:ext>
            </a:extLst>
          </p:cNvPr>
          <p:cNvCxnSpPr/>
          <p:nvPr/>
        </p:nvCxnSpPr>
        <p:spPr>
          <a:xfrm>
            <a:off x="10403457" y="4873925"/>
            <a:ext cx="7936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1ADA43-2719-B859-10B3-4152BF9FEB4E}"/>
              </a:ext>
            </a:extLst>
          </p:cNvPr>
          <p:cNvCxnSpPr/>
          <p:nvPr/>
        </p:nvCxnSpPr>
        <p:spPr>
          <a:xfrm flipV="1">
            <a:off x="10403457" y="5037826"/>
            <a:ext cx="793630" cy="1751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177260-2C96-05C0-27E8-582DC1F2CD6A}"/>
              </a:ext>
            </a:extLst>
          </p:cNvPr>
          <p:cNvSpPr txBox="1"/>
          <p:nvPr/>
        </p:nvSpPr>
        <p:spPr>
          <a:xfrm>
            <a:off x="11197087" y="4177689"/>
            <a:ext cx="793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先將打鉤材料，進行刪除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5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E7330-920F-E8A7-84CE-9ED0CE1B6D29}"/>
              </a:ext>
            </a:extLst>
          </p:cNvPr>
          <p:cNvSpPr txBox="1"/>
          <p:nvPr/>
        </p:nvSpPr>
        <p:spPr>
          <a:xfrm>
            <a:off x="810886" y="18404"/>
            <a:ext cx="98858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針對</a:t>
            </a:r>
            <a:r>
              <a:rPr lang="en-US" altLang="zh-CN" sz="1500" dirty="0"/>
              <a:t>5106F</a:t>
            </a:r>
            <a:r>
              <a:rPr lang="zh-CN" altLang="en-US" sz="1500" dirty="0"/>
              <a:t>物料，向另一家供應商開採購單</a:t>
            </a:r>
            <a:endParaRPr lang="en-US" sz="15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5B4323-B4E0-8115-1510-D558D196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776530"/>
              </p:ext>
            </p:extLst>
          </p:nvPr>
        </p:nvGraphicFramePr>
        <p:xfrm>
          <a:off x="891059" y="835707"/>
          <a:ext cx="1409445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採購日期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A6D536-933B-0745-3F73-CD35FC2B8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9372"/>
              </p:ext>
            </p:extLst>
          </p:nvPr>
        </p:nvGraphicFramePr>
        <p:xfrm>
          <a:off x="891059" y="1206547"/>
          <a:ext cx="1409445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Dd/mm/</a:t>
                      </a:r>
                      <a:r>
                        <a:rPr lang="en-US" altLang="zh-CN" sz="1500" dirty="0" err="1"/>
                        <a:t>yy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ECD57-2510-E9F1-D56E-24967C0C6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25500"/>
              </p:ext>
            </p:extLst>
          </p:nvPr>
        </p:nvGraphicFramePr>
        <p:xfrm>
          <a:off x="3125301" y="835707"/>
          <a:ext cx="140944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45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r>
                        <a:rPr lang="zh-CN" altLang="en-US" dirty="0"/>
                        <a:t>採購單號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5512A4-0620-C46D-C6DC-82130FBBA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78981"/>
              </p:ext>
            </p:extLst>
          </p:nvPr>
        </p:nvGraphicFramePr>
        <p:xfrm>
          <a:off x="3120904" y="1206548"/>
          <a:ext cx="183065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658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268570">
                <a:tc>
                  <a:txBody>
                    <a:bodyPr/>
                    <a:lstStyle/>
                    <a:p>
                      <a:r>
                        <a:rPr lang="en-US" sz="1400" dirty="0"/>
                        <a:t>123456-2</a:t>
                      </a:r>
                      <a:r>
                        <a:rPr lang="en-US" altLang="zh-CN" sz="1400" dirty="0"/>
                        <a:t>【</a:t>
                      </a:r>
                      <a:r>
                        <a:rPr lang="zh-CN" altLang="en-US" sz="1400" dirty="0"/>
                        <a:t>手動輸入</a:t>
                      </a:r>
                      <a:r>
                        <a:rPr lang="en-US" altLang="zh-CN" sz="1400" dirty="0"/>
                        <a:t>】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76D568-6907-31A1-6B20-90BAAB1E2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399365"/>
              </p:ext>
            </p:extLst>
          </p:nvPr>
        </p:nvGraphicFramePr>
        <p:xfrm>
          <a:off x="810886" y="2009984"/>
          <a:ext cx="977373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82">
                  <a:extLst>
                    <a:ext uri="{9D8B030D-6E8A-4147-A177-3AD203B41FA5}">
                      <a16:colId xmlns:a16="http://schemas.microsoft.com/office/drawing/2014/main" val="585364923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114058554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783630920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376935193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461519837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3339503815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4157667334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72320660"/>
                    </a:ext>
                  </a:extLst>
                </a:gridCol>
                <a:gridCol w="693395">
                  <a:extLst>
                    <a:ext uri="{9D8B030D-6E8A-4147-A177-3AD203B41FA5}">
                      <a16:colId xmlns:a16="http://schemas.microsoft.com/office/drawing/2014/main" val="84571734"/>
                    </a:ext>
                  </a:extLst>
                </a:gridCol>
                <a:gridCol w="609769">
                  <a:extLst>
                    <a:ext uri="{9D8B030D-6E8A-4147-A177-3AD203B41FA5}">
                      <a16:colId xmlns:a16="http://schemas.microsoft.com/office/drawing/2014/main" val="129551160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271070809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143312940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2002012021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818776238"/>
                    </a:ext>
                  </a:extLst>
                </a:gridCol>
                <a:gridCol w="651582">
                  <a:extLst>
                    <a:ext uri="{9D8B030D-6E8A-4147-A177-3AD203B41FA5}">
                      <a16:colId xmlns:a16="http://schemas.microsoft.com/office/drawing/2014/main" val="1955553290"/>
                    </a:ext>
                  </a:extLst>
                </a:gridCol>
              </a:tblGrid>
              <a:tr h="409669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物料編號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品名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規格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顏色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供應商名稱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單位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數量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供應商單價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幣別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Leadtime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備註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材料需求日期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全選</a:t>
                      </a:r>
                      <a:r>
                        <a:rPr lang="zh-CN" altLang="en-US" sz="1100" dirty="0">
                          <a:sym typeface="Wingdings 2" panose="05020102010507070707" pitchFamily="18" charset="2"/>
                        </a:rPr>
                        <a:t>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736831"/>
                  </a:ext>
                </a:extLst>
              </a:tr>
              <a:tr h="1214376">
                <a:tc>
                  <a:txBody>
                    <a:bodyPr/>
                    <a:lstStyle/>
                    <a:p>
                      <a:r>
                        <a:rPr lang="en-US" sz="1100" dirty="0"/>
                        <a:t>5106</a:t>
                      </a:r>
                      <a:r>
                        <a:rPr lang="en-US" altLang="zh-CN" sz="1100" dirty="0"/>
                        <a:t>F</a:t>
                      </a:r>
                    </a:p>
                    <a:p>
                      <a:r>
                        <a:rPr lang="en-US" sz="1100" dirty="0"/>
                        <a:t>--</a:t>
                      </a:r>
                      <a:r>
                        <a:rPr lang="zh-CN" altLang="en-US" sz="1100" dirty="0"/>
                        <a:t>可選用</a:t>
                      </a:r>
                      <a:r>
                        <a:rPr lang="en-US" altLang="zh-CN" sz="1100" dirty="0"/>
                        <a:t>--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130CMX215CM 14MM 42C WHITE EVA(EXPOSED)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1300x2150x14mm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Thiên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Thạc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ym typeface="Wingdings 2" panose="05020102010507070707" pitchFamily="18" charset="2"/>
                        </a:rPr>
                        <a:t>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84586"/>
                  </a:ext>
                </a:extLst>
              </a:tr>
              <a:tr h="731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PU-801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Solid 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Hâm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Tường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Adhesive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ym typeface="Wingdings 2" panose="05020102010507070707" pitchFamily="18" charset="2"/>
                        </a:rPr>
                        <a:t></a:t>
                      </a:r>
                      <a:endParaRPr lang="en-US" sz="1100" dirty="0"/>
                    </a:p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72702"/>
                  </a:ext>
                </a:extLst>
              </a:tr>
              <a:tr h="105343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Trắng</a:t>
                      </a:r>
                      <a:r>
                        <a:rPr lang="en-US" sz="1100" dirty="0"/>
                        <a:t> 5mm EVA 32c 110*270cm 510A9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1300x2150x5mm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Thiên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Thạc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Sheet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42C-T-b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ym typeface="Wingdings 2" panose="05020102010507070707" pitchFamily="18" charset="2"/>
                        </a:rPr>
                        <a:t>      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564640"/>
                  </a:ext>
                </a:extLst>
              </a:tr>
              <a:tr h="731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Lamination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N/A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Công</a:t>
                      </a:r>
                      <a:r>
                        <a:rPr lang="en-US" sz="1100" dirty="0"/>
                        <a:t> ty TNHH </a:t>
                      </a:r>
                      <a:r>
                        <a:rPr lang="en-US" sz="1100" dirty="0" err="1"/>
                        <a:t>Hâm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Tường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Eva 42C-T-c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Lamination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手動輸入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ym typeface="Wingdings 2" panose="05020102010507070707" pitchFamily="18" charset="2"/>
                        </a:rPr>
                        <a:t>       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81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B51841-1811-479F-68D3-A3C76DB38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29458"/>
              </p:ext>
            </p:extLst>
          </p:nvPr>
        </p:nvGraphicFramePr>
        <p:xfrm>
          <a:off x="881888" y="1637915"/>
          <a:ext cx="2460369" cy="329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369">
                  <a:extLst>
                    <a:ext uri="{9D8B030D-6E8A-4147-A177-3AD203B41FA5}">
                      <a16:colId xmlns:a16="http://schemas.microsoft.com/office/drawing/2014/main" val="3905166304"/>
                    </a:ext>
                  </a:extLst>
                </a:gridCol>
              </a:tblGrid>
              <a:tr h="329419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訂單明細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2402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FE86E4-A89B-35E0-902C-13E3BCC16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922154"/>
              </p:ext>
            </p:extLst>
          </p:nvPr>
        </p:nvGraphicFramePr>
        <p:xfrm>
          <a:off x="896302" y="404339"/>
          <a:ext cx="975630" cy="329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630">
                  <a:extLst>
                    <a:ext uri="{9D8B030D-6E8A-4147-A177-3AD203B41FA5}">
                      <a16:colId xmlns:a16="http://schemas.microsoft.com/office/drawing/2014/main" val="1847401434"/>
                    </a:ext>
                  </a:extLst>
                </a:gridCol>
              </a:tblGrid>
              <a:tr h="329418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採購單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5529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F039F4-54E2-C3AA-DEFC-D906EE09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296804"/>
              </p:ext>
            </p:extLst>
          </p:nvPr>
        </p:nvGraphicFramePr>
        <p:xfrm>
          <a:off x="6096000" y="1575246"/>
          <a:ext cx="44680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009">
                  <a:extLst>
                    <a:ext uri="{9D8B030D-6E8A-4147-A177-3AD203B41FA5}">
                      <a16:colId xmlns:a16="http://schemas.microsoft.com/office/drawing/2014/main" val="2335432317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2422534152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1479114656"/>
                    </a:ext>
                  </a:extLst>
                </a:gridCol>
                <a:gridCol w="1117009">
                  <a:extLst>
                    <a:ext uri="{9D8B030D-6E8A-4147-A177-3AD203B41FA5}">
                      <a16:colId xmlns:a16="http://schemas.microsoft.com/office/drawing/2014/main" val="473941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導出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列印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確認送審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刪除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34919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C087D0-2264-09FA-0B91-B3E246F16216}"/>
              </a:ext>
            </a:extLst>
          </p:cNvPr>
          <p:cNvCxnSpPr/>
          <p:nvPr/>
        </p:nvCxnSpPr>
        <p:spPr>
          <a:xfrm flipH="1">
            <a:off x="6863464" y="1124745"/>
            <a:ext cx="207034" cy="579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607536-6D81-3B84-2457-2FA4BCC029E5}"/>
              </a:ext>
            </a:extLst>
          </p:cNvPr>
          <p:cNvSpPr txBox="1"/>
          <p:nvPr/>
        </p:nvSpPr>
        <p:spPr>
          <a:xfrm>
            <a:off x="6983679" y="824706"/>
            <a:ext cx="176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</a:t>
            </a:r>
            <a:r>
              <a:rPr lang="zh-CN" altLang="en-US" dirty="0"/>
              <a:t>或</a:t>
            </a:r>
            <a:r>
              <a:rPr lang="en-US" altLang="zh-CN" dirty="0"/>
              <a:t>PDF</a:t>
            </a:r>
            <a:r>
              <a:rPr lang="zh-CN" altLang="en-US" dirty="0"/>
              <a:t>檔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B9A3CD-D9AB-CE5A-B0D8-809CC6D9DD1E}"/>
              </a:ext>
            </a:extLst>
          </p:cNvPr>
          <p:cNvCxnSpPr/>
          <p:nvPr/>
        </p:nvCxnSpPr>
        <p:spPr>
          <a:xfrm>
            <a:off x="10403457" y="2579299"/>
            <a:ext cx="7936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1ADA43-2719-B859-10B3-4152BF9FEB4E}"/>
              </a:ext>
            </a:extLst>
          </p:cNvPr>
          <p:cNvCxnSpPr/>
          <p:nvPr/>
        </p:nvCxnSpPr>
        <p:spPr>
          <a:xfrm flipV="1">
            <a:off x="10403457" y="3065867"/>
            <a:ext cx="793630" cy="1751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177260-2C96-05C0-27E8-582DC1F2CD6A}"/>
              </a:ext>
            </a:extLst>
          </p:cNvPr>
          <p:cNvSpPr txBox="1"/>
          <p:nvPr/>
        </p:nvSpPr>
        <p:spPr>
          <a:xfrm>
            <a:off x="11197087" y="2202240"/>
            <a:ext cx="793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將打鉤材料，進行刪除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2E0E6C-467C-64A7-D14E-50C07D903035}"/>
              </a:ext>
            </a:extLst>
          </p:cNvPr>
          <p:cNvCxnSpPr/>
          <p:nvPr/>
        </p:nvCxnSpPr>
        <p:spPr>
          <a:xfrm flipV="1">
            <a:off x="4580174" y="680657"/>
            <a:ext cx="793630" cy="5531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C9433A-B204-D584-7C07-1F15B374E2C3}"/>
              </a:ext>
            </a:extLst>
          </p:cNvPr>
          <p:cNvSpPr txBox="1"/>
          <p:nvPr/>
        </p:nvSpPr>
        <p:spPr>
          <a:xfrm>
            <a:off x="5336095" y="324238"/>
            <a:ext cx="1760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如訂單號重複，系統自動報錯誤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9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1534</Words>
  <Application>Microsoft Office PowerPoint</Application>
  <PresentationFormat>Widescreen</PresentationFormat>
  <Paragraphs>322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zheng</dc:creator>
  <cp:lastModifiedBy>johnny zheng</cp:lastModifiedBy>
  <cp:revision>4</cp:revision>
  <dcterms:created xsi:type="dcterms:W3CDTF">2026-04-18T03:52:03Z</dcterms:created>
  <dcterms:modified xsi:type="dcterms:W3CDTF">2026-04-18T09:19:11Z</dcterms:modified>
</cp:coreProperties>
</file>